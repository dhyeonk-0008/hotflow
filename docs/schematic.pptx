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C3E50"/>
                </a:solidFill>
              </a:rPr>
              <a:t>HotFlow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2920"/>
            <a:ext cx="1463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Hotspot-Conditioned Peptide Binder Design via SE(3) Flow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206240" cy="7040880"/>
          </a:xfrm>
          <a:prstGeom prst="roundRect">
            <a:avLst>
              <a:gd name="adj" fmla="val 10000"/>
            </a:avLst>
          </a:prstGeom>
          <a:solidFill>
            <a:srgbClr val="E8EDF5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2C3E50"/>
                </a:solidFill>
              </a:rPr>
              <a:t>Stage 1: Hotspot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91840" cy="502920"/>
          </a:xfrm>
          <a:prstGeom prst="roundRect">
            <a:avLst>
              <a:gd name="adj" fmla="val 10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Receptor Pocket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77440" y="1874519"/>
            <a:ext cx="0" cy="274321"/>
          </a:xfrm>
          <a:prstGeom prst="line">
            <a:avLst/>
          </a:prstGeom>
          <a:ln w="25400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148840"/>
            <a:ext cx="3291840" cy="640080"/>
          </a:xfrm>
          <a:prstGeom prst="roundRect">
            <a:avLst>
              <a:gd name="adj" fmla="val 10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PepHAR EBM</a:t>
            </a:r>
          </a:p>
          <a:p>
            <a:pPr algn="ctr">
              <a:spcBef>
                <a:spcPts val="100"/>
              </a:spcBef>
            </a:pPr>
            <a:r>
              <a:rPr sz="900" i="1" b="0">
                <a:solidFill>
                  <a:srgbClr val="D0C8E8"/>
                </a:solidFill>
              </a:rPr>
              <a:t>pretrained &amp; frozen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788920"/>
            <a:ext cx="0" cy="274320"/>
          </a:xfrm>
          <a:prstGeom prst="line">
            <a:avLst/>
          </a:prstGeom>
          <a:ln w="25400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80160" y="2788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8888"/>
                </a:solidFill>
              </a:rPr>
              <a:t>density sampling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3657600" cy="77724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 Hotspot Anchors</a:t>
            </a:r>
          </a:p>
          <a:p>
            <a:pPr algn="ctr">
              <a:spcBef>
                <a:spcPts val="100"/>
              </a:spcBef>
            </a:pPr>
            <a:r>
              <a:rPr sz="900" i="1" b="0">
                <a:solidFill>
                  <a:srgbClr val="FFFFFF"/>
                </a:solidFill>
              </a:rPr>
              <a:t>Ca/C/N coords + AA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6B6B"/>
                </a:solidFill>
              </a:rPr>
              <a:t>(B, K, 3, 3) coords  ·  (B, K) types  ·  K =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3840480" cy="22860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2C3E50"/>
                </a:solidFill>
              </a:rPr>
              <a:t>Anchor Source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400" b="0" i="0">
                <a:solidFill>
                  <a:srgbClr val="F0F0F0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50" b="0" i="1">
                <a:solidFill>
                  <a:srgbClr val="555555"/>
                </a:solidFill>
              </a:rPr>
              <a:t>Training:   GT contacts (&lt; 4 A)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50" b="0" i="1">
                <a:solidFill>
                  <a:srgbClr val="555555"/>
                </a:solidFill>
              </a:rPr>
              <a:t>Inference:  PepHAR EBM prediction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400" b="0" i="0">
                <a:solidFill>
                  <a:srgbClr val="F0F0F0"/>
                </a:solidFill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C0392B"/>
                </a:solidFill>
              </a:rPr>
              <a:t>Classifier-Free Guidance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C0392B"/>
                </a:solidFill>
              </a:rPr>
              <a:t>p_drop = 0.1 (training)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50" b="0" i="0">
                <a:solidFill>
                  <a:srgbClr val="C0392B"/>
                </a:solidFill>
              </a:rPr>
              <a:t>guidance_scale &gt; 1.0 (inference)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914400"/>
            <a:ext cx="9601200" cy="7040880"/>
          </a:xfrm>
          <a:prstGeom prst="roundRect">
            <a:avLst>
              <a:gd name="adj" fmla="val 10000"/>
            </a:avLst>
          </a:prstGeom>
          <a:solidFill>
            <a:srgbClr val="FFF5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2C3E50"/>
                </a:solidFill>
              </a:rPr>
              <a:t>Stage 2: Hotspot-Conditioned Flow Matching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417320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encode(batch)</a:t>
            </a:r>
          </a:p>
          <a:p>
            <a:pPr algn="ctr">
              <a:spcBef>
                <a:spcPts val="100"/>
              </a:spcBef>
            </a:pPr>
            <a:r>
              <a:rPr sz="800" i="1" b="0">
                <a:solidFill>
                  <a:srgbClr val="AABBCC"/>
                </a:solidFill>
              </a:rPr>
              <a:t>receptor + peptide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03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55555"/>
                </a:solidFill>
              </a:rPr>
              <a:t>node_embed (B,L,128)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55555"/>
                </a:solidFill>
              </a:rPr>
              <a:t>edge_embed (B,L,L,64)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0" y="1417320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Noisy State xt</a:t>
            </a:r>
          </a:p>
          <a:p>
            <a:pPr algn="ctr">
              <a:spcBef>
                <a:spcPts val="100"/>
              </a:spcBef>
            </a:pPr>
            <a:r>
              <a:rPr sz="850" i="1" b="0">
                <a:solidFill>
                  <a:srgbClr val="D8C8F0"/>
                </a:solidFill>
              </a:rPr>
              <a:t>rot · trans · torsion · seq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1188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9B6"/>
                </a:solidFill>
              </a:rPr>
              <a:t>t ~ U[0.01, 1]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251960" y="3200400"/>
            <a:ext cx="822960" cy="292608"/>
          </a:xfrm>
          <a:prstGeom prst="line">
            <a:avLst/>
          </a:prstGeom>
          <a:ln w="31750">
            <a:solidFill>
              <a:srgbClr val="FF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20640" y="2697480"/>
            <a:ext cx="3200400" cy="1417320"/>
          </a:xfrm>
          <a:prstGeom prst="roundRect">
            <a:avLst>
              <a:gd name="adj" fmla="val 10000"/>
            </a:avLst>
          </a:prstGeom>
          <a:solidFill>
            <a:srgbClr val="FF8C42"/>
          </a:solidFill>
          <a:ln w="19050">
            <a:solidFill>
              <a:srgbClr val="E07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7249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HotspotEncoder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306324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E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SE(3) Inv.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06324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E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AA Embed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342900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E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MLP Proj.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342900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E07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Self-Attn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8404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999999"/>
                </a:solidFill>
              </a:rPr>
              <a:t>+ receptor_center (B,3)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1605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</a:rPr>
              <a:t>hotspot context  (B, 5, 64)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3E50"/>
                </a:solidFill>
              </a:rPr>
              <a:t>GAEncoderCrossAttn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4389120"/>
            <a:ext cx="8778240" cy="2331720"/>
          </a:xfrm>
          <a:prstGeom prst="roundRect">
            <a:avLst>
              <a:gd name="adj" fmla="val 10000"/>
            </a:avLst>
          </a:prstGeom>
          <a:solidFill>
            <a:srgbClr val="E8E5DC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66360" y="51663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IPA Block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57332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777777"/>
                </a:solidFill>
              </a:rPr>
              <a:t>+ Seq Tfmr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0" y="5440680"/>
            <a:ext cx="137160" cy="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537960" y="51663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IPA Block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7332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777777"/>
                </a:solidFill>
              </a:rPr>
              <a:t>+ Seq Tfmr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0" y="5440680"/>
            <a:ext cx="137160" cy="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909560" y="51663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IPA Block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57332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777777"/>
                </a:solidFill>
              </a:rPr>
              <a:t>+ Seq Tfmr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44000" y="5440680"/>
            <a:ext cx="137160" cy="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281160" y="51663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IPA Block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57332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777777"/>
                </a:solidFill>
              </a:rPr>
              <a:t>+ Seq Tfmr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81160" y="4572000"/>
            <a:ext cx="1234440" cy="41148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Cross-Attn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515600" y="5440680"/>
            <a:ext cx="137160" cy="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652760" y="51663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IPA Block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57332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777777"/>
                </a:solidFill>
              </a:rPr>
              <a:t>+ Seq Tfmr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52760" y="4572000"/>
            <a:ext cx="1234440" cy="41148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Cross-Attn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1887200" y="5440680"/>
            <a:ext cx="137160" cy="0"/>
          </a:xfrm>
          <a:prstGeom prst="line">
            <a:avLst/>
          </a:prstGeom>
          <a:ln w="19050">
            <a:solidFill>
              <a:srgbClr val="9999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2024360" y="516636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IPA Block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024360" y="5733288"/>
            <a:ext cx="1234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777777"/>
                </a:solidFill>
              </a:rPr>
              <a:t>+ Seq Tfmr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024360" y="4572000"/>
            <a:ext cx="1234440" cy="41148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Cross-Attn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583680" y="2606040"/>
            <a:ext cx="0" cy="1737360"/>
          </a:xfrm>
          <a:prstGeom prst="line">
            <a:avLst/>
          </a:prstGeom>
          <a:ln w="25400">
            <a:solidFill>
              <a:srgbClr val="3449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35840" y="2057400"/>
            <a:ext cx="0" cy="2286000"/>
          </a:xfrm>
          <a:prstGeom prst="line">
            <a:avLst/>
          </a:prstGeom>
          <a:ln w="25400">
            <a:solidFill>
              <a:srgbClr val="9B59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720840" y="4389120"/>
            <a:ext cx="3177540" cy="182880"/>
          </a:xfrm>
          <a:prstGeom prst="line">
            <a:avLst/>
          </a:prstGeom>
          <a:ln w="19050">
            <a:solidFill>
              <a:srgbClr val="E74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720840" y="4389120"/>
            <a:ext cx="4549140" cy="182880"/>
          </a:xfrm>
          <a:prstGeom prst="line">
            <a:avLst/>
          </a:prstGeom>
          <a:ln w="19050">
            <a:solidFill>
              <a:srgbClr val="E74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720840" y="4389120"/>
            <a:ext cx="5920740" cy="182880"/>
          </a:xfrm>
          <a:prstGeom prst="line">
            <a:avLst/>
          </a:prstGeom>
          <a:ln w="19050">
            <a:solidFill>
              <a:srgbClr val="E74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132320" y="420624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E74C3C"/>
                </a:solidFill>
              </a:rPr>
              <a:t>Q: peptide nodes     K, V: hotspot context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2641580" y="5897880"/>
            <a:ext cx="0" cy="960120"/>
          </a:xfrm>
          <a:prstGeom prst="line">
            <a:avLst/>
          </a:prstGeom>
          <a:ln w="25400">
            <a:solidFill>
              <a:srgbClr val="2C3E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875520" y="6858000"/>
            <a:ext cx="3840480" cy="502920"/>
          </a:xfrm>
          <a:prstGeom prst="roundRect">
            <a:avLst>
              <a:gd name="adj" fmla="val 10000"/>
            </a:avLst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Predicted Clean State x1</a:t>
            </a:r>
          </a:p>
          <a:p>
            <a:pPr algn="ctr">
              <a:spcBef>
                <a:spcPts val="100"/>
              </a:spcBef>
            </a:pPr>
            <a:r>
              <a:rPr sz="800" i="1" b="0">
                <a:solidFill>
                  <a:srgbClr val="B0D0FF"/>
                </a:solidFill>
              </a:rPr>
              <a:t>trans · rot · torsion · AA probs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13807440" y="2057400"/>
            <a:ext cx="0" cy="4800600"/>
          </a:xfrm>
          <a:prstGeom prst="line">
            <a:avLst/>
          </a:prstGeom>
          <a:ln w="25400">
            <a:solidFill>
              <a:srgbClr val="9B59B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385316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B59B6"/>
                </a:solidFill>
              </a:rPr>
              <a:t>100
Euler
steps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795760" y="7360920"/>
            <a:ext cx="0" cy="228600"/>
          </a:xfrm>
          <a:prstGeom prst="line">
            <a:avLst/>
          </a:prstGeom>
          <a:ln w="31750">
            <a:solidFill>
              <a:srgbClr val="1ABC9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9418320" y="7589520"/>
            <a:ext cx="4754880" cy="411480"/>
          </a:xfrm>
          <a:prstGeom prst="roundRect">
            <a:avLst>
              <a:gd name="adj" fmla="val 10000"/>
            </a:avLst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Generated Peptide (structure + sequence)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0" y="6766560"/>
            <a:ext cx="4114800" cy="1234440"/>
          </a:xfrm>
          <a:prstGeom prst="roundRect">
            <a:avLst>
              <a:gd name="adj" fmla="val 10000"/>
            </a:avLst>
          </a:prstGeom>
          <a:solidFill>
            <a:srgbClr val="ECEFF1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0" y="6784848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2C3E50"/>
                </a:solidFill>
              </a:rPr>
              <a:t>Training Losses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</a:rPr>
              <a:t>trans (0.5)  ·  rot (0.5)  ·  bb_atom (0.25)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0">
                <a:solidFill>
                  <a:srgbClr val="666666"/>
                </a:solidFill>
              </a:rPr>
              <a:t>seq (1.0)  ·  angle (1.0)  ·  torsion (0.5)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1" i="0">
                <a:solidFill>
                  <a:srgbClr val="E74C3C"/>
                </a:solidFill>
              </a:rPr>
              <a:t>contact_loss (0.1)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9189720" y="7086600"/>
            <a:ext cx="685800" cy="0"/>
          </a:xfrm>
          <a:prstGeom prst="line">
            <a:avLst/>
          </a:prstGeom>
          <a:ln w="15240">
            <a:solidFill>
              <a:srgbClr val="AAAA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